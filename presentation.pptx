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979161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64592" y="2651760"/>
            <a:ext cx="12192000" cy="54864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Student Portal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57200" y="21488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SECU2000 – Application Security | Group Final Project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283464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BF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Node.js / Express application demonstrating OWASP Top 10 mitigations</a:t>
            </a:r>
            <a:endParaRPr lang="en-US" sz="1400" dirty="0"/>
          </a:p>
          <a:p>
            <a:pPr marL="0" indent="0">
              <a:buNone/>
            </a:pPr>
            <a:r>
              <a:rPr lang="en-US" sz="1400" i="1" dirty="0">
                <a:solidFill>
                  <a:srgbClr val="BF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STRIDE threat modelling in a realistic client-server architecture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40233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Members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43434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Ritik Vyas   ·   Cy Iver   ·   Thanh Nguyen   ·   Randie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4754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15,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3716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137160"/>
            <a:ext cx="12192000" cy="100584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1828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Agenda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749808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will cover today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325880"/>
            <a:ext cx="5120640" cy="566928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1371600"/>
            <a:ext cx="457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05840" y="1371600"/>
            <a:ext cx="4389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 &amp; Problem Statement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2011680"/>
            <a:ext cx="51206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7200" y="2057400"/>
            <a:ext cx="457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05840" y="2057400"/>
            <a:ext cx="4389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Architecture (3-tier layered design)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2697480"/>
            <a:ext cx="5120640" cy="566928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57200" y="2743200"/>
            <a:ext cx="457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05840" y="2743200"/>
            <a:ext cx="4389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Surface – 5 Required Entry Points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3383280"/>
            <a:ext cx="51206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57200" y="3429000"/>
            <a:ext cx="457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05840" y="3429000"/>
            <a:ext cx="4389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A01 – Broken Access Control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65760" y="4069080"/>
            <a:ext cx="5120640" cy="566928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57200" y="4114800"/>
            <a:ext cx="457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05840" y="4114800"/>
            <a:ext cx="4389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A03 – Injection (SQL Injection Demo)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65760" y="4754880"/>
            <a:ext cx="51206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57200" y="4800600"/>
            <a:ext cx="457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05840" y="4800600"/>
            <a:ext cx="4389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A05 – Security Misconfiguration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217920" y="1325880"/>
            <a:ext cx="5394960" cy="566928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309360" y="1371600"/>
            <a:ext cx="548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949440" y="1371600"/>
            <a:ext cx="4480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A07 – Authentication Failures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217920" y="2011680"/>
            <a:ext cx="53949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309360" y="2057400"/>
            <a:ext cx="548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949440" y="2057400"/>
            <a:ext cx="4480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A09 – Logging &amp; Monitoring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217920" y="2697480"/>
            <a:ext cx="5394960" cy="566928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309360" y="2743200"/>
            <a:ext cx="548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949440" y="2743200"/>
            <a:ext cx="4480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STRIDE Threat Model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217920" y="3383280"/>
            <a:ext cx="53949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6309360" y="3429000"/>
            <a:ext cx="548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949440" y="3429000"/>
            <a:ext cx="4480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&amp; Security Testing Results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217920" y="4069080"/>
            <a:ext cx="5394960" cy="566928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6309360" y="4114800"/>
            <a:ext cx="548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6949440" y="4114800"/>
            <a:ext cx="4480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Design &amp; Data Protection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6217920" y="4754880"/>
            <a:ext cx="53949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6309360" y="4800600"/>
            <a:ext cx="548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6949440" y="4800600"/>
            <a:ext cx="4480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Key Takeaways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3716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137160"/>
            <a:ext cx="12192000" cy="100584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1828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749808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Student Portal – Problem &amp;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371600"/>
            <a:ext cx="5303520" cy="4389120"/>
          </a:xfrm>
          <a:prstGeom prst="rect">
            <a:avLst/>
          </a:prstGeom>
          <a:solidFill>
            <a:srgbClr val="FFF5F5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14630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874520"/>
            <a:ext cx="512064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90500" indent="-190500">
              <a:spcBef>
                <a:spcPts val="600"/>
              </a:spcBef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portals rush to market without security consideration</a:t>
            </a:r>
            <a:endParaRPr lang="en-US" sz="1400" dirty="0"/>
          </a:p>
          <a:p>
            <a:pPr marL="190500" indent="-190500">
              <a:spcBef>
                <a:spcPts val="600"/>
              </a:spcBef>
              <a:buSzPct val="100000"/>
              <a:buChar char="•"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consequences:</a:t>
            </a:r>
            <a:endParaRPr lang="en-US" sz="1400" dirty="0"/>
          </a:p>
          <a:p>
            <a:pPr marL="444500" indent="-444500">
              <a:spcBef>
                <a:spcPts val="200"/>
              </a:spcBef>
              <a:buSzPct val="100000"/>
              <a:buChar char="•"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grade tampering via SQL injection</a:t>
            </a:r>
            <a:endParaRPr lang="en-US" sz="1400" dirty="0"/>
          </a:p>
          <a:p>
            <a:pPr marL="444500" indent="-444500">
              <a:spcBef>
                <a:spcPts val="200"/>
              </a:spcBef>
              <a:buSzPct val="100000"/>
              <a:buChar char="•"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Unauthorized admin access by regular students</a:t>
            </a:r>
            <a:endParaRPr lang="en-US" sz="1400" dirty="0"/>
          </a:p>
          <a:p>
            <a:pPr marL="444500" indent="-444500">
              <a:spcBef>
                <a:spcPts val="200"/>
              </a:spcBef>
              <a:buSzPct val="100000"/>
              <a:buChar char="•"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Malicious file uploads compromising the server</a:t>
            </a:r>
            <a:endParaRPr lang="en-US" sz="1400" dirty="0"/>
          </a:p>
          <a:p>
            <a:pPr marL="444500" indent="-444500">
              <a:spcBef>
                <a:spcPts val="200"/>
              </a:spcBef>
              <a:buSzPct val="100000"/>
              <a:buChar char="•"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audit trail when incidents occur</a:t>
            </a:r>
            <a:endParaRPr lang="en-US" sz="1400" dirty="0"/>
          </a:p>
          <a:p>
            <a:pPr marL="444500" indent="-444500">
              <a:spcBef>
                <a:spcPts val="200"/>
              </a:spcBef>
              <a:buSzPct val="100000"/>
              <a:buChar char="•"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databases stored in plaintext</a:t>
            </a:r>
            <a:endParaRPr lang="en-US" sz="1400" dirty="0"/>
          </a:p>
          <a:p>
            <a:pPr marL="190500" indent="-190500">
              <a:spcBef>
                <a:spcPts val="600"/>
              </a:spcBef>
              <a:buSzPct val="100000"/>
              <a:buChar char="•"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Users: Students, Faculty, Administrators</a:t>
            </a:r>
            <a:endParaRPr lang="en-US" sz="1400" dirty="0"/>
          </a:p>
          <a:p>
            <a:pPr marL="190500" indent="-190500">
              <a:spcBef>
                <a:spcPts val="600"/>
              </a:spcBef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data: Academic records, uploaded documents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17920" y="1371600"/>
            <a:ext cx="5394960" cy="4389120"/>
          </a:xfrm>
          <a:prstGeom prst="rect">
            <a:avLst/>
          </a:prstGeom>
          <a:solidFill>
            <a:srgbClr val="F0FFF4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309360" y="146304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309360" y="1874520"/>
            <a:ext cx="521208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90500" indent="-190500">
              <a:spcBef>
                <a:spcPts val="600"/>
              </a:spcBef>
              <a:buSzPct val="100000"/>
              <a:buChar char="•"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Student Portal demonstrating:</a:t>
            </a:r>
            <a:endParaRPr lang="en-US" sz="1400" dirty="0"/>
          </a:p>
          <a:p>
            <a:pPr marL="444500" indent="-444500">
              <a:spcBef>
                <a:spcPts val="200"/>
              </a:spcBef>
              <a:buSzPct val="100000"/>
              <a:buChar char="•"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Hashed passwords (bcrypt, cost=10)</a:t>
            </a:r>
            <a:endParaRPr lang="en-US" sz="1400" dirty="0"/>
          </a:p>
          <a:p>
            <a:pPr marL="444500" indent="-444500">
              <a:spcBef>
                <a:spcPts val="200"/>
              </a:spcBef>
              <a:buSzPct val="100000"/>
              <a:buChar char="•"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control (RBAC)</a:t>
            </a:r>
            <a:endParaRPr lang="en-US" sz="1400" dirty="0"/>
          </a:p>
          <a:p>
            <a:pPr marL="444500" indent="-444500">
              <a:spcBef>
                <a:spcPts val="200"/>
              </a:spcBef>
              <a:buSzPct val="100000"/>
              <a:buChar char="•"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injection prevention</a:t>
            </a:r>
            <a:endParaRPr lang="en-US" sz="1400" dirty="0"/>
          </a:p>
          <a:p>
            <a:pPr marL="444500" indent="-444500">
              <a:spcBef>
                <a:spcPts val="200"/>
              </a:spcBef>
              <a:buSzPct val="100000"/>
              <a:buChar char="•"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upload security (type + size validation)</a:t>
            </a:r>
            <a:endParaRPr lang="en-US" sz="1400" dirty="0"/>
          </a:p>
          <a:p>
            <a:pPr marL="444500" indent="-444500">
              <a:spcBef>
                <a:spcPts val="200"/>
              </a:spcBef>
              <a:buSzPct val="100000"/>
              <a:buChar char="•"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security audit logging</a:t>
            </a:r>
            <a:endParaRPr lang="en-US" sz="1400" dirty="0"/>
          </a:p>
          <a:p>
            <a:pPr marL="190500" indent="-190500">
              <a:spcBef>
                <a:spcPts val="600"/>
              </a:spcBef>
              <a:buSzPct val="100000"/>
              <a:buChar char="•"/>
            </a:pPr>
            <a:r>
              <a:rPr lang="en-US" sz="14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Dual-mode design: VULNERABLE vs SECURE</a:t>
            </a:r>
            <a:endParaRPr lang="en-US" sz="1400" dirty="0"/>
          </a:p>
          <a:p>
            <a:pPr marL="444500" indent="-444500">
              <a:spcBef>
                <a:spcPts val="200"/>
              </a:spcBef>
              <a:buSzPct val="100000"/>
              <a:buChar char="•"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threat shown in action, then mitigated</a:t>
            </a:r>
            <a:endParaRPr lang="en-US" sz="1400" dirty="0"/>
          </a:p>
          <a:p>
            <a:pPr marL="190500" indent="-190500">
              <a:spcBef>
                <a:spcPts val="600"/>
              </a:spcBef>
              <a:buSzPct val="100000"/>
              <a:buChar char="•"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 5 OWASP Top 10 categories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3716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137160"/>
            <a:ext cx="12192000" cy="100584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1828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Architecture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749808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3-tier separation of concerns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097280" y="1280160"/>
            <a:ext cx="9875520" cy="749808"/>
          </a:xfrm>
          <a:prstGeom prst="rect">
            <a:avLst/>
          </a:prstGeom>
          <a:solidFill>
            <a:srgbClr val="DBEAFE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188720" y="1316736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LAYER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188720" y="1627632"/>
            <a:ext cx="9601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EJS Templates (login · dashboard · search · upload · admin · error)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715000" y="2029968"/>
            <a:ext cx="457200" cy="393192"/>
          </a:xfrm>
          <a:prstGeom prst="downArrow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097280" y="2148840"/>
            <a:ext cx="9875520" cy="749808"/>
          </a:xfrm>
          <a:prstGeom prst="rect">
            <a:avLst/>
          </a:prstGeom>
          <a:solidFill>
            <a:srgbClr val="FEF9C3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188720" y="2185416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13F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/ MIDDLEWARE LAYER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188720" y="2496312"/>
            <a:ext cx="9601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Helmet · Rate Limiter · isAuthenticated · isAdmin RBAC · Session · File Filter · Winston Audit Log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715000" y="2898648"/>
            <a:ext cx="457200" cy="393192"/>
          </a:xfrm>
          <a:prstGeom prst="downArrow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1097280" y="3017520"/>
            <a:ext cx="9875520" cy="749808"/>
          </a:xfrm>
          <a:prstGeom prst="rect">
            <a:avLst/>
          </a:prstGeom>
          <a:solidFill>
            <a:srgbClr val="D1FAE5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188720" y="3054096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LAYER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188720" y="3364992"/>
            <a:ext cx="9601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Routes: /login · /logout · /dashboard · /search · /upload · /admin · REST APIs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715000" y="3767328"/>
            <a:ext cx="457200" cy="393192"/>
          </a:xfrm>
          <a:prstGeom prst="downArrow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1097280" y="3886200"/>
            <a:ext cx="9875520" cy="749808"/>
          </a:xfrm>
          <a:prstGeom prst="rect">
            <a:avLst/>
          </a:prstGeom>
          <a:solidFill>
            <a:srgbClr val="EDE9FE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188720" y="3922776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188720" y="4233672"/>
            <a:ext cx="9601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SQLite3 – Tables: users · grades · files · audit_log  |  Parameterized queries only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1097280" y="4800600"/>
            <a:ext cx="9875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PRINCIPLE: Security middleware wraps ALL protected routes — no bypass possible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3716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137160"/>
            <a:ext cx="12192000" cy="100584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1828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Threat Surface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749808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Entry Points – Vulnerable &amp; Secure implementations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280160"/>
            <a:ext cx="1234440" cy="347472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20040" y="1298448"/>
            <a:ext cx="1188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 Point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554480" y="1280160"/>
            <a:ext cx="1600200" cy="347472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600200" y="1298448"/>
            <a:ext cx="1554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0" y="1280160"/>
            <a:ext cx="2331720" cy="347472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246120" y="1298448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Vulnerability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577840" y="1280160"/>
            <a:ext cx="3429000" cy="347472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623560" y="1298448"/>
            <a:ext cx="3383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Control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9052560" y="1280160"/>
            <a:ext cx="1874520" cy="347472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9098280" y="1298448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1691640"/>
            <a:ext cx="11430000" cy="804672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65760" y="1737360"/>
            <a:ext cx="11430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Form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1600200" y="1737360"/>
            <a:ext cx="1554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/login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246120" y="1737360"/>
            <a:ext cx="22860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Brute force, user enum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623560" y="1737360"/>
            <a:ext cx="33832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 + bcrypt + generic errors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9098280" y="1828800"/>
            <a:ext cx="1005840" cy="548640"/>
          </a:xfrm>
          <a:prstGeom prst="roundRect">
            <a:avLst/>
          </a:prstGeom>
          <a:solidFill>
            <a:srgbClr val="1A56DB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A07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9098280" y="1828800"/>
            <a:ext cx="1005840" cy="548640"/>
          </a:xfrm>
          <a:prstGeom prst="round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9098280" y="1828800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A07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274320" y="2560320"/>
            <a:ext cx="114300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65760" y="2606040"/>
            <a:ext cx="11430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Form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1600200" y="2606040"/>
            <a:ext cx="1554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/search-vulnerable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3246120" y="2606040"/>
            <a:ext cx="22860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Injection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623560" y="2606040"/>
            <a:ext cx="33832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Parameterized queries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9098280" y="2697480"/>
            <a:ext cx="1005840" cy="548640"/>
          </a:xfrm>
          <a:prstGeom prst="roundRect">
            <a:avLst/>
          </a:prstGeom>
          <a:solidFill>
            <a:srgbClr val="1A56DB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A03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9098280" y="2697480"/>
            <a:ext cx="1005840" cy="548640"/>
          </a:xfrm>
          <a:prstGeom prst="round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9098280" y="2697480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A03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274320" y="3429000"/>
            <a:ext cx="11430000" cy="804672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365760" y="3474720"/>
            <a:ext cx="11430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Upload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1600200" y="3474720"/>
            <a:ext cx="1554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/upload-vulnerable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3246120" y="3474720"/>
            <a:ext cx="22860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Malware / DoS upload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5623560" y="3474720"/>
            <a:ext cx="33832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MIME allow-list, 1 MB cap, rand names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9098280" y="3566160"/>
            <a:ext cx="1005840" cy="548640"/>
          </a:xfrm>
          <a:prstGeom prst="roundRect">
            <a:avLst/>
          </a:prstGeom>
          <a:solidFill>
            <a:srgbClr val="1A56DB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A05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9098280" y="3566160"/>
            <a:ext cx="1005840" cy="548640"/>
          </a:xfrm>
          <a:prstGeom prst="round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9098280" y="3566160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A05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274320" y="4297680"/>
            <a:ext cx="114300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365760" y="4343400"/>
            <a:ext cx="11430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Panel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1600200" y="4343400"/>
            <a:ext cx="1554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/admin-vulnerable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3246120" y="4343400"/>
            <a:ext cx="22860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role check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5623560" y="4343400"/>
            <a:ext cx="33832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isAdmin RBAC middleware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9098280" y="4434840"/>
            <a:ext cx="1005840" cy="548640"/>
          </a:xfrm>
          <a:prstGeom prst="roundRect">
            <a:avLst/>
          </a:prstGeom>
          <a:solidFill>
            <a:srgbClr val="1A56DB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A01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9098280" y="4434840"/>
            <a:ext cx="1005840" cy="548640"/>
          </a:xfrm>
          <a:prstGeom prst="round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9098280" y="4434840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A01</a:t>
            </a:r>
            <a:endParaRPr lang="en-US" sz="1150" dirty="0"/>
          </a:p>
        </p:txBody>
      </p:sp>
      <p:sp>
        <p:nvSpPr>
          <p:cNvPr id="48" name="Shape 46"/>
          <p:cNvSpPr/>
          <p:nvPr/>
        </p:nvSpPr>
        <p:spPr>
          <a:xfrm>
            <a:off x="274320" y="5166360"/>
            <a:ext cx="11430000" cy="804672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365760" y="5212080"/>
            <a:ext cx="11430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APIs</a:t>
            </a:r>
            <a:endParaRPr lang="en-US" sz="1150" dirty="0"/>
          </a:p>
        </p:txBody>
      </p:sp>
      <p:sp>
        <p:nvSpPr>
          <p:cNvPr id="50" name="Text 48"/>
          <p:cNvSpPr/>
          <p:nvPr/>
        </p:nvSpPr>
        <p:spPr>
          <a:xfrm>
            <a:off x="1600200" y="5212080"/>
            <a:ext cx="1554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All authenticated routes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3246120" y="5212080"/>
            <a:ext cx="22860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Unauth endpoint access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5623560" y="5212080"/>
            <a:ext cx="33832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isAuthenticated middleware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9098280" y="5303520"/>
            <a:ext cx="1005840" cy="548640"/>
          </a:xfrm>
          <a:prstGeom prst="roundRect">
            <a:avLst/>
          </a:prstGeom>
          <a:solidFill>
            <a:srgbClr val="1A56DB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A01</a:t>
            </a:r>
            <a:endParaRPr lang="en-US" sz="1150" dirty="0"/>
          </a:p>
        </p:txBody>
      </p:sp>
      <p:sp>
        <p:nvSpPr>
          <p:cNvPr id="54" name="Shape 52"/>
          <p:cNvSpPr/>
          <p:nvPr/>
        </p:nvSpPr>
        <p:spPr>
          <a:xfrm>
            <a:off x="9098280" y="5303520"/>
            <a:ext cx="1005840" cy="548640"/>
          </a:xfrm>
          <a:prstGeom prst="round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9098280" y="5303520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A01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3716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137160"/>
            <a:ext cx="12192000" cy="100584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1828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A01 – Broken Access Control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749808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panel exposed without role verification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298448"/>
            <a:ext cx="5212080" cy="4343400"/>
          </a:xfrm>
          <a:prstGeom prst="rect">
            <a:avLst/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1389888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VULNERABLE – /admin-vulnerable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801368"/>
            <a:ext cx="502920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Bef>
                <a:spcPts val="400"/>
              </a:spcBef>
              <a:buNone/>
            </a:pPr>
            <a:r>
              <a:rPr lang="en-US" sz="11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Route uses only isAuthenticated</a:t>
            </a:r>
            <a:endParaRPr lang="en-US" sz="1100" dirty="0"/>
          </a:p>
          <a:p>
            <a:pPr marL="0" indent="0">
              <a:spcBef>
                <a:spcPts val="400"/>
              </a:spcBef>
              <a:buNone/>
            </a:pPr>
            <a:r>
              <a:rPr lang="en-US" sz="11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 role check — any logged-in user can access</a:t>
            </a:r>
            <a:endParaRPr lang="en-US" sz="1100" dirty="0"/>
          </a:p>
          <a:p>
            <a:pPr marL="0" indent="0">
              <a:spcBef>
                <a:spcPts val="400"/>
              </a:spcBef>
              <a:buNone/>
            </a:pPr>
            <a:endParaRPr lang="en-US" sz="1100" dirty="0"/>
          </a:p>
          <a:p>
            <a:pPr marL="0" indent="0">
              <a:spcBef>
                <a:spcPts val="400"/>
              </a:spcBef>
              <a:buNone/>
            </a:pPr>
            <a:r>
              <a:rPr lang="en-US" sz="11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Code:</a:t>
            </a:r>
            <a:endParaRPr lang="en-US" sz="1100" dirty="0"/>
          </a:p>
          <a:p>
            <a:pPr marL="0" indent="0">
              <a:spcBef>
                <a:spcPts val="400"/>
              </a:spcBef>
              <a:buNone/>
            </a:pPr>
            <a:r>
              <a:rPr lang="en-US" sz="11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app.get('/admin-vulnerable',</a:t>
            </a:r>
            <a:endParaRPr lang="en-US" sz="1100" dirty="0"/>
          </a:p>
          <a:p>
            <a:pPr marL="0" indent="0">
              <a:spcBef>
                <a:spcPts val="400"/>
              </a:spcBef>
              <a:buNone/>
            </a:pPr>
            <a:r>
              <a:rPr lang="en-US" sz="11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isAuthenticated,   // ← only auth check</a:t>
            </a:r>
            <a:endParaRPr lang="en-US" sz="1100" dirty="0"/>
          </a:p>
          <a:p>
            <a:pPr marL="0" indent="0">
              <a:spcBef>
                <a:spcPts val="400"/>
              </a:spcBef>
              <a:buNone/>
            </a:pPr>
            <a:r>
              <a:rPr lang="en-US" sz="11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(req, res) =&gt; {</a:t>
            </a:r>
            <a:endParaRPr lang="en-US" sz="1100" dirty="0"/>
          </a:p>
          <a:p>
            <a:pPr marL="0" indent="0">
              <a:spcBef>
                <a:spcPts val="400"/>
              </a:spcBef>
              <a:buNone/>
            </a:pPr>
            <a:r>
              <a:rPr lang="en-US" sz="11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db.all('SELECT * FROM grades', ...)</a:t>
            </a:r>
            <a:endParaRPr lang="en-US" sz="1100" dirty="0"/>
          </a:p>
          <a:p>
            <a:pPr marL="0" indent="0">
              <a:spcBef>
                <a:spcPts val="400"/>
              </a:spcBef>
              <a:buNone/>
            </a:pPr>
            <a:r>
              <a:rPr lang="en-US" sz="11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No role verification!</a:t>
            </a:r>
            <a:endParaRPr lang="en-US" sz="1100" dirty="0"/>
          </a:p>
          <a:p>
            <a:pPr marL="0" indent="0">
              <a:spcBef>
                <a:spcPts val="400"/>
              </a:spcBef>
              <a:buNone/>
            </a:pPr>
            <a:r>
              <a:rPr lang="en-US" sz="11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100" dirty="0"/>
          </a:p>
          <a:p>
            <a:pPr marL="0" indent="0">
              <a:spcBef>
                <a:spcPts val="400"/>
              </a:spcBef>
              <a:buNone/>
            </a:pPr>
            <a:r>
              <a:rPr lang="en-US" sz="11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100" dirty="0"/>
          </a:p>
          <a:p>
            <a:pPr marL="0" indent="0">
              <a:spcBef>
                <a:spcPts val="400"/>
              </a:spcBef>
              <a:buNone/>
            </a:pPr>
            <a:endParaRPr lang="en-US" sz="1100" dirty="0"/>
          </a:p>
          <a:p>
            <a:pPr marL="0" indent="0">
              <a:spcBef>
                <a:spcPts val="400"/>
              </a:spcBef>
              <a:buNone/>
            </a:pPr>
            <a:r>
              <a:rPr lang="en-US" sz="11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Result: Student1 can see ALL grade records</a:t>
            </a:r>
            <a:endParaRPr lang="en-US" sz="1100" dirty="0"/>
          </a:p>
          <a:p>
            <a:pPr marL="0" indent="0">
              <a:spcBef>
                <a:spcPts val="400"/>
              </a:spcBef>
              <a:buNone/>
            </a:pPr>
            <a:r>
              <a:rPr lang="en-US" sz="11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all students — a complete data breach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17920" y="1298448"/>
            <a:ext cx="5394960" cy="4343400"/>
          </a:xfrm>
          <a:prstGeom prst="rect">
            <a:avLst/>
          </a:prstGeom>
          <a:solidFill>
            <a:srgbClr val="D1FAE5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309360" y="1389888"/>
            <a:ext cx="5212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– /admin (RBAC enforced)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309360" y="1801368"/>
            <a:ext cx="521208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isAdmin middleware validates role: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isAdmin(req, res, next)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(req.session.user &amp;&amp;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req.session.user.role==='admin'){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next();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auditLog(`UNAUTHORIZED ACCESS`,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req.session.user?.username);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res.status(403).render('error',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 message: 'Access Denied' });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app.get('/admin',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isAuthenticated, isAdmin,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(req, res) =&gt; { /* admin only */ }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Result: HTTP 403 + audit log entry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3716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137160"/>
            <a:ext cx="12192000" cy="100584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1828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A03 – Injection (SQL Injection)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749808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Parameterized queries vs. string concatenation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298448"/>
            <a:ext cx="5212080" cy="4343400"/>
          </a:xfrm>
          <a:prstGeom prst="rect">
            <a:avLst/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1389888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VULNERABLE – String Concatenation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801368"/>
            <a:ext cx="502920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Attack payload: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' OR '1'='1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Generated SQL: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* FROM grades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student_name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LIKE '%' OR '1'='1%'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 course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LIKE '%' OR '1'='1%'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ALL rows returned from grades table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Complete data breach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Risk: Attacker could also: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DROP TABLE users; --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INSERT INTO users ...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17920" y="1298448"/>
            <a:ext cx="5394960" cy="4343400"/>
          </a:xfrm>
          <a:prstGeom prst="rect">
            <a:avLst/>
          </a:prstGeom>
          <a:solidFill>
            <a:srgbClr val="D1FAE5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309360" y="1389888"/>
            <a:ext cx="5212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– Parameterized Query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309360" y="1801368"/>
            <a:ext cx="521208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sql =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`SELECT * FROM grades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WHERE student_name LIKE ?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OR course LIKE ?`;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pattern = `%${query}%`;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db.all(sql,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[pattern, pattern],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(err, rows) =&gt; { ... }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Same attack payload: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' OR '1'='1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Treated as literal string: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LIKE "%' OR '1'='1%"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Result: ZERO rows returned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Injection attempt blocked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3716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137160"/>
            <a:ext cx="12192000" cy="100584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1828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A05 – Security Misconfiguration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749808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Helmet.js headers · File upload restrictions · Error handling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298448"/>
            <a:ext cx="3657600" cy="4572000"/>
          </a:xfrm>
          <a:prstGeom prst="rect">
            <a:avLst/>
          </a:prstGeom>
          <a:solidFill>
            <a:srgbClr val="DBEAFE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13716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Security Headers (Helmet.js)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57200" y="1801368"/>
            <a:ext cx="347472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app.use(helmet({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contentSecurityPolicy: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directives: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defaultSrc: ["'self'"],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scriptSrc: ["'self'"],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}));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X-Frame-Options: SAMEORIGIN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X-Content-Type-Options: nosniff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Content-Security-Policy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Referrer-Policy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Cross-Origin policies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160520" y="1298448"/>
            <a:ext cx="3657600" cy="4572000"/>
          </a:xfrm>
          <a:prstGeom prst="rect">
            <a:avLst/>
          </a:prstGeom>
          <a:solidFill>
            <a:srgbClr val="D1FAE5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251960" y="13716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File Upload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251960" y="1801368"/>
            <a:ext cx="347472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secureUpload = multer({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dest: 'uploads/',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limits: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fileSize: 1024*1024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fileFilter: (req, file, cb)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=&gt;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allowed = [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'image/png',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'image/jpeg',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'application/pdf'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];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...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7955280" y="1298448"/>
            <a:ext cx="3657600" cy="4572000"/>
          </a:xfrm>
          <a:prstGeom prst="rect">
            <a:avLst/>
          </a:prstGeom>
          <a:solidFill>
            <a:srgbClr val="FEF9C3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046720" y="13716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713F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Handling &amp; Info Disclosure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8046720" y="1801368"/>
            <a:ext cx="347472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Global error handler: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app.use((err, req, res, next)=&gt;{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logger.error(err.stack);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Stack trace → log file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NOT → client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res.status(500).render('error',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 message: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'Something went wrong.' }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No stack traces to client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No framework version leaks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Generic 404 handler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3716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137160"/>
            <a:ext cx="12192000" cy="100584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1828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A07 – Authentication Failures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749808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 · Rate limiting · Session security · User enumeration prevention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298448"/>
            <a:ext cx="3749040" cy="2148840"/>
          </a:xfrm>
          <a:prstGeom prst="rect">
            <a:avLst/>
          </a:prstGeom>
          <a:solidFill>
            <a:srgbClr val="DBEAFE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11480" y="1371600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60120" y="1389888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 Password Hashing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11480" y="1865376"/>
            <a:ext cx="356616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Passwords hashed with cost factor 10.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bcrypt.compare() used in constant time.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password never stored or logged.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251960" y="1298448"/>
            <a:ext cx="3749040" cy="2148840"/>
          </a:xfrm>
          <a:prstGeom prst="rect">
            <a:avLst/>
          </a:prstGeom>
          <a:solidFill>
            <a:srgbClr val="FEF9C3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343400" y="1371600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892040" y="1389888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Limiting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343400" y="1865376"/>
            <a:ext cx="356616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loginLimiter: 5 attempts / 15-min / IP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429 on excess. Logs to audit trail.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brute force &amp; credential stuffing.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183880" y="1298448"/>
            <a:ext cx="3749040" cy="2148840"/>
          </a:xfrm>
          <a:prstGeom prst="rect">
            <a:avLst/>
          </a:prstGeom>
          <a:solidFill>
            <a:srgbClr val="D1FAE5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275320" y="1371600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823960" y="1389888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Enumeration Prevention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8275320" y="1865376"/>
            <a:ext cx="356616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"user not found" and "wrong password"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identical message: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"Invalid username or password."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20040" y="3675888"/>
            <a:ext cx="3749040" cy="2148840"/>
          </a:xfrm>
          <a:prstGeom prst="rect">
            <a:avLst/>
          </a:prstGeom>
          <a:solidFill>
            <a:srgbClr val="EDE9FE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11480" y="3749040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960120" y="3767328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Security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11480" y="4242816"/>
            <a:ext cx="356616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HttpOnly cookie – no JS access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SameSite – prevents CSRF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1-hour TTL · session.destroy() on logout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251960" y="3675888"/>
            <a:ext cx="3749040" cy="2148840"/>
          </a:xfrm>
          <a:prstGeom prst="rect">
            <a:avLst/>
          </a:prstGeom>
          <a:solidFill>
            <a:srgbClr val="FEF3C7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343400" y="3749040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4892040" y="3767328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Store Security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343400" y="4242816"/>
            <a:ext cx="356616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ID stored client-side (opaque)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data server-side via express-session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cannot be tampered from client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8183880" y="3675888"/>
            <a:ext cx="3749040" cy="2148840"/>
          </a:xfrm>
          <a:prstGeom prst="rect">
            <a:avLst/>
          </a:prstGeom>
          <a:solidFill>
            <a:srgbClr val="FEE2E2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8275320" y="3749040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8823960" y="3767328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Environment-based Secrets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8275320" y="4242816"/>
            <a:ext cx="356616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SESSION_SECRET loaded from .env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fallback noted in code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committed to version control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3716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137160"/>
            <a:ext cx="12192000" cy="100584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1828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A09 – Security Logging &amp; Monitoring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749808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Winston structured logs + Database audit trail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298448"/>
            <a:ext cx="5212080" cy="4343400"/>
          </a:xfrm>
          <a:prstGeom prst="rect">
            <a:avLst/>
          </a:prstGeom>
          <a:solidFill>
            <a:srgbClr val="F8FAFC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1389888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Logging Architecture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801368"/>
            <a:ext cx="502920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auditLog(action, user) 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ts = new Date().toISOString();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1. Database log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db.run(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'INSERT INTO audit_log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(action, user) VALUES (?,?)',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[action, user]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);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2. Winston file log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logger.info(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`${action} - User: ${user}`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Called on every security event: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auditLog('Successful login', username);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auditLog('UNAUTHORIZED ACCESS', user);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auditLog('Rate limit exceeded', user);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217920" y="1298448"/>
            <a:ext cx="5394960" cy="4343400"/>
          </a:xfrm>
          <a:prstGeom prst="rect">
            <a:avLst/>
          </a:prstGeom>
          <a:solidFill>
            <a:srgbClr val="F8FAFC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309360" y="1389888"/>
            <a:ext cx="5212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 Captured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63640" y="1783080"/>
            <a:ext cx="5257800" cy="329184"/>
          </a:xfrm>
          <a:prstGeom prst="rect">
            <a:avLst/>
          </a:prstGeom>
          <a:solidFill>
            <a:srgbClr val="D1FAE5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309360" y="1801368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65F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[INFO] Server started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0241280" y="1801368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263640" y="2148840"/>
            <a:ext cx="5257800" cy="329184"/>
          </a:xfrm>
          <a:prstGeom prst="rect">
            <a:avLst/>
          </a:prstGeom>
          <a:solidFill>
            <a:srgbClr val="D1FAE5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309360" y="2167128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65F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[INFO] Successful login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10241280" y="2167128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263640" y="2514600"/>
            <a:ext cx="5257800" cy="329184"/>
          </a:xfrm>
          <a:prstGeom prst="rect">
            <a:avLst/>
          </a:prstGeom>
          <a:solidFill>
            <a:srgbClr val="FEF9C3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309360" y="2532888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13F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[WARN] Failed login – wrong password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10241280" y="2532888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student1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263640" y="2880360"/>
            <a:ext cx="5257800" cy="329184"/>
          </a:xfrm>
          <a:prstGeom prst="rect">
            <a:avLst/>
          </a:prstGeom>
          <a:solidFill>
            <a:srgbClr val="FEF9C3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309360" y="2898648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13F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[WARN] Rate limit exceeded on login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10241280" y="2898648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unknown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263640" y="3246120"/>
            <a:ext cx="5257800" cy="329184"/>
          </a:xfrm>
          <a:prstGeom prst="rect">
            <a:avLst/>
          </a:prstGeom>
          <a:solidFill>
            <a:srgbClr val="D1FAE5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309360" y="3264408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65F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[INFO] Secure search executed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10241280" y="3264408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student1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263640" y="3611880"/>
            <a:ext cx="5257800" cy="329184"/>
          </a:xfrm>
          <a:prstGeom prst="rect">
            <a:avLst/>
          </a:prstGeom>
          <a:solidFill>
            <a:srgbClr val="FEF9C3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309360" y="3630168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13F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[WARN] VULNERABLE search query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10241280" y="3630168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student1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263640" y="3977640"/>
            <a:ext cx="5257800" cy="329184"/>
          </a:xfrm>
          <a:prstGeom prst="rect">
            <a:avLst/>
          </a:prstGeom>
          <a:solidFill>
            <a:srgbClr val="D1FAE5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309360" y="3995928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65F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[INFO] File uploaded (SECURE)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10241280" y="3995928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student1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263640" y="4343400"/>
            <a:ext cx="5257800" cy="329184"/>
          </a:xfrm>
          <a:prstGeom prst="rect">
            <a:avLst/>
          </a:prstGeom>
          <a:solidFill>
            <a:srgbClr val="FEF9C3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309360" y="4361688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13F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[WARN] Upload rejected – invalid type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10241280" y="4361688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student1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263640" y="4709160"/>
            <a:ext cx="5257800" cy="329184"/>
          </a:xfrm>
          <a:prstGeom prst="rect">
            <a:avLst/>
          </a:prstGeom>
          <a:solidFill>
            <a:srgbClr val="D1FAE5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6309360" y="4727448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65F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[INFO] Accessed SECURE admin panel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10241280" y="4727448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263640" y="5074920"/>
            <a:ext cx="5257800" cy="329184"/>
          </a:xfrm>
          <a:prstGeom prst="rect">
            <a:avLst/>
          </a:prstGeom>
          <a:solidFill>
            <a:srgbClr val="FEE2E2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6309360" y="5093208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C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[ERROR] UNAUTHORIZED ACCESS to admin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10241280" y="5093208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student1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6263640" y="5440680"/>
            <a:ext cx="5257800" cy="329184"/>
          </a:xfrm>
          <a:prstGeom prst="rect">
            <a:avLst/>
          </a:prstGeom>
          <a:solidFill>
            <a:srgbClr val="D1FAE5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6309360" y="5458968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65F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[INFO] User logged out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10241280" y="5458968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3716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137160"/>
            <a:ext cx="12192000" cy="100584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1828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STRIDE Threat Model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749808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Systematic threat identification and mitigation mapping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8600" y="1261872"/>
            <a:ext cx="786384" cy="27432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65176" y="1261872"/>
            <a:ext cx="7498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051560" y="1261872"/>
            <a:ext cx="740664" cy="27432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088136" y="1261872"/>
            <a:ext cx="7040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1828800" y="1261872"/>
            <a:ext cx="2203704" cy="27432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865376" y="1261872"/>
            <a:ext cx="21671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 Point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069080" y="1261872"/>
            <a:ext cx="3255264" cy="27432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105656" y="1261872"/>
            <a:ext cx="32186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7360920" y="1261872"/>
            <a:ext cx="4306824" cy="27432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397496" y="1261872"/>
            <a:ext cx="42702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28600" y="1572768"/>
            <a:ext cx="11430000" cy="393192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256032" y="1627632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56032" y="162763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051560" y="1572768"/>
            <a:ext cx="749808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Spoofing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1828800" y="1572768"/>
            <a:ext cx="219456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Form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069080" y="1572768"/>
            <a:ext cx="324612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Impersonate user via brute force / credential stuffing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360920" y="1572768"/>
            <a:ext cx="42062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 + rate limit (5/15min) + generic errors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28600" y="2002536"/>
            <a:ext cx="1143000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256032" y="205740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256032" y="205740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051560" y="2002536"/>
            <a:ext cx="749808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Spoofing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828800" y="2002536"/>
            <a:ext cx="219456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Cookie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069080" y="2002536"/>
            <a:ext cx="324612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XSS steals HttpOnly session cookie for replay attack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360920" y="2002536"/>
            <a:ext cx="42062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HttpOnly flag + EJS output encoding + 1hr TTL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28600" y="2432304"/>
            <a:ext cx="11430000" cy="393192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256032" y="2487168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FEF9C3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256032" y="248716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051560" y="2432304"/>
            <a:ext cx="749808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Tampering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1828800" y="2432304"/>
            <a:ext cx="219456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Form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069080" y="2432304"/>
            <a:ext cx="324612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injection modifies query logic to extract all data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7360920" y="2432304"/>
            <a:ext cx="42062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Parameterized queries (SQLite3 placeholder API)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228600" y="2862072"/>
            <a:ext cx="1143000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256032" y="2916936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FEF9C3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256032" y="291693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1051560" y="2862072"/>
            <a:ext cx="749808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Tampering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1828800" y="2862072"/>
            <a:ext cx="219456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Upload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069080" y="2862072"/>
            <a:ext cx="324612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web shell (.php/.js) for server-side code exec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7360920" y="2862072"/>
            <a:ext cx="42062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MIME allow-list, 1MB cap, random filenames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228600" y="3291840"/>
            <a:ext cx="11430000" cy="393192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256032" y="3346704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EDE9FE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256032" y="334670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1051560" y="3291840"/>
            <a:ext cx="749808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Repudiation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1828800" y="3291840"/>
            <a:ext cx="219456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Auth Routes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4069080" y="3291840"/>
            <a:ext cx="324612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denies malicious actions without audit evidence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7360920" y="3291840"/>
            <a:ext cx="42062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auditLog() → DB table + Winston with timestamp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228600" y="3721608"/>
            <a:ext cx="1143000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Shape 50"/>
          <p:cNvSpPr/>
          <p:nvPr/>
        </p:nvSpPr>
        <p:spPr>
          <a:xfrm>
            <a:off x="256032" y="3776472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DBEAFE"/>
          </a:solidFill>
          <a:ln w="12700">
            <a:solidFill>
              <a:srgbClr val="1A56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256032" y="377647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1051560" y="3721608"/>
            <a:ext cx="749808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 Disclose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1828800" y="3721608"/>
            <a:ext cx="219456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Panel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4069080" y="3721608"/>
            <a:ext cx="324612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Student-role user views all grades (BAC)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7360920" y="3721608"/>
            <a:ext cx="42062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isAdmin RBAC middleware → HTTP 403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228600" y="4151376"/>
            <a:ext cx="11430000" cy="393192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Shape 57"/>
          <p:cNvSpPr/>
          <p:nvPr/>
        </p:nvSpPr>
        <p:spPr>
          <a:xfrm>
            <a:off x="256032" y="420624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DBEAFE"/>
          </a:solidFill>
          <a:ln w="12700">
            <a:solidFill>
              <a:srgbClr val="1A56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256032" y="420624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1051560" y="4151376"/>
            <a:ext cx="749808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 Disclose</a:t>
            </a:r>
            <a:endParaRPr lang="en-US" sz="850" dirty="0"/>
          </a:p>
        </p:txBody>
      </p:sp>
      <p:sp>
        <p:nvSpPr>
          <p:cNvPr id="62" name="Text 60"/>
          <p:cNvSpPr/>
          <p:nvPr/>
        </p:nvSpPr>
        <p:spPr>
          <a:xfrm>
            <a:off x="1828800" y="4151376"/>
            <a:ext cx="219456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Pages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4069080" y="4151376"/>
            <a:ext cx="324612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trace exposes file paths and library versions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7360920" y="4151376"/>
            <a:ext cx="42062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error handler; logs internally only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228600" y="4581144"/>
            <a:ext cx="1143000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Shape 64"/>
          <p:cNvSpPr/>
          <p:nvPr/>
        </p:nvSpPr>
        <p:spPr>
          <a:xfrm>
            <a:off x="256032" y="4636008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D1FAE5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Text 65"/>
          <p:cNvSpPr/>
          <p:nvPr/>
        </p:nvSpPr>
        <p:spPr>
          <a:xfrm>
            <a:off x="256032" y="463600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000" dirty="0"/>
          </a:p>
        </p:txBody>
      </p:sp>
      <p:sp>
        <p:nvSpPr>
          <p:cNvPr id="68" name="Text 66"/>
          <p:cNvSpPr/>
          <p:nvPr/>
        </p:nvSpPr>
        <p:spPr>
          <a:xfrm>
            <a:off x="1051560" y="4581144"/>
            <a:ext cx="749808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</a:t>
            </a:r>
            <a:endParaRPr lang="en-US" sz="850" dirty="0"/>
          </a:p>
        </p:txBody>
      </p:sp>
      <p:sp>
        <p:nvSpPr>
          <p:cNvPr id="69" name="Text 67"/>
          <p:cNvSpPr/>
          <p:nvPr/>
        </p:nvSpPr>
        <p:spPr>
          <a:xfrm>
            <a:off x="1828800" y="4581144"/>
            <a:ext cx="219456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Form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4069080" y="4581144"/>
            <a:ext cx="324612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Flood endpoint consuming bcrypt CPU cycles</a:t>
            </a:r>
            <a:endParaRPr lang="en-US" sz="900" dirty="0"/>
          </a:p>
        </p:txBody>
      </p:sp>
      <p:sp>
        <p:nvSpPr>
          <p:cNvPr id="71" name="Text 69"/>
          <p:cNvSpPr/>
          <p:nvPr/>
        </p:nvSpPr>
        <p:spPr>
          <a:xfrm>
            <a:off x="7360920" y="4581144"/>
            <a:ext cx="42062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limiter returns 429 before invoking bcrypt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228600" y="5010912"/>
            <a:ext cx="11430000" cy="393192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Shape 71"/>
          <p:cNvSpPr/>
          <p:nvPr/>
        </p:nvSpPr>
        <p:spPr>
          <a:xfrm>
            <a:off x="256032" y="5065776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D1FAE5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Text 72"/>
          <p:cNvSpPr/>
          <p:nvPr/>
        </p:nvSpPr>
        <p:spPr>
          <a:xfrm>
            <a:off x="256032" y="506577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000" dirty="0"/>
          </a:p>
        </p:txBody>
      </p:sp>
      <p:sp>
        <p:nvSpPr>
          <p:cNvPr id="75" name="Text 73"/>
          <p:cNvSpPr/>
          <p:nvPr/>
        </p:nvSpPr>
        <p:spPr>
          <a:xfrm>
            <a:off x="1051560" y="5010912"/>
            <a:ext cx="749808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</a:t>
            </a:r>
            <a:endParaRPr lang="en-US" sz="850" dirty="0"/>
          </a:p>
        </p:txBody>
      </p:sp>
      <p:sp>
        <p:nvSpPr>
          <p:cNvPr id="76" name="Text 74"/>
          <p:cNvSpPr/>
          <p:nvPr/>
        </p:nvSpPr>
        <p:spPr>
          <a:xfrm>
            <a:off x="1828800" y="5010912"/>
            <a:ext cx="219456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Upload</a:t>
            </a:r>
            <a:endParaRPr lang="en-US" sz="900" dirty="0"/>
          </a:p>
        </p:txBody>
      </p:sp>
      <p:sp>
        <p:nvSpPr>
          <p:cNvPr id="77" name="Text 75"/>
          <p:cNvSpPr/>
          <p:nvPr/>
        </p:nvSpPr>
        <p:spPr>
          <a:xfrm>
            <a:off x="4069080" y="5010912"/>
            <a:ext cx="324612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Multi-GB upload fills disk / exhausts memory</a:t>
            </a:r>
            <a:endParaRPr lang="en-US" sz="900" dirty="0"/>
          </a:p>
        </p:txBody>
      </p:sp>
      <p:sp>
        <p:nvSpPr>
          <p:cNvPr id="78" name="Text 76"/>
          <p:cNvSpPr/>
          <p:nvPr/>
        </p:nvSpPr>
        <p:spPr>
          <a:xfrm>
            <a:off x="7360920" y="5010912"/>
            <a:ext cx="42062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Multer limits.fileSize: 1MB enforced at stream</a:t>
            </a:r>
            <a:endParaRPr lang="en-US" sz="900" dirty="0"/>
          </a:p>
        </p:txBody>
      </p:sp>
      <p:sp>
        <p:nvSpPr>
          <p:cNvPr id="79" name="Shape 77"/>
          <p:cNvSpPr/>
          <p:nvPr/>
        </p:nvSpPr>
        <p:spPr>
          <a:xfrm>
            <a:off x="228600" y="5440680"/>
            <a:ext cx="1143000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0" name="Shape 78"/>
          <p:cNvSpPr/>
          <p:nvPr/>
        </p:nvSpPr>
        <p:spPr>
          <a:xfrm>
            <a:off x="256032" y="5495544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EDE9FE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1" name="Text 79"/>
          <p:cNvSpPr/>
          <p:nvPr/>
        </p:nvSpPr>
        <p:spPr>
          <a:xfrm>
            <a:off x="256032" y="549554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000" dirty="0"/>
          </a:p>
        </p:txBody>
      </p:sp>
      <p:sp>
        <p:nvSpPr>
          <p:cNvPr id="82" name="Text 80"/>
          <p:cNvSpPr/>
          <p:nvPr/>
        </p:nvSpPr>
        <p:spPr>
          <a:xfrm>
            <a:off x="1051560" y="5440680"/>
            <a:ext cx="749808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Elev. Priv.</a:t>
            </a:r>
            <a:endParaRPr lang="en-US" sz="850" dirty="0"/>
          </a:p>
        </p:txBody>
      </p:sp>
      <p:sp>
        <p:nvSpPr>
          <p:cNvPr id="83" name="Text 81"/>
          <p:cNvSpPr/>
          <p:nvPr/>
        </p:nvSpPr>
        <p:spPr>
          <a:xfrm>
            <a:off x="1828800" y="5440680"/>
            <a:ext cx="219456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Panel</a:t>
            </a:r>
            <a:endParaRPr lang="en-US" sz="900" dirty="0"/>
          </a:p>
        </p:txBody>
      </p:sp>
      <p:sp>
        <p:nvSpPr>
          <p:cNvPr id="84" name="Text 82"/>
          <p:cNvSpPr/>
          <p:nvPr/>
        </p:nvSpPr>
        <p:spPr>
          <a:xfrm>
            <a:off x="4069080" y="5440680"/>
            <a:ext cx="324612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navigates directly to /admin-vulnerable</a:t>
            </a:r>
            <a:endParaRPr lang="en-US" sz="900" dirty="0"/>
          </a:p>
        </p:txBody>
      </p:sp>
      <p:sp>
        <p:nvSpPr>
          <p:cNvPr id="85" name="Text 83"/>
          <p:cNvSpPr/>
          <p:nvPr/>
        </p:nvSpPr>
        <p:spPr>
          <a:xfrm>
            <a:off x="7360920" y="5440680"/>
            <a:ext cx="42062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isAdmin checks role in server-side session</a:t>
            </a:r>
            <a:endParaRPr lang="en-US" sz="900" dirty="0"/>
          </a:p>
        </p:txBody>
      </p:sp>
      <p:sp>
        <p:nvSpPr>
          <p:cNvPr id="86" name="Shape 84"/>
          <p:cNvSpPr/>
          <p:nvPr/>
        </p:nvSpPr>
        <p:spPr>
          <a:xfrm>
            <a:off x="228600" y="5870448"/>
            <a:ext cx="11430000" cy="393192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7" name="Shape 85"/>
          <p:cNvSpPr/>
          <p:nvPr/>
        </p:nvSpPr>
        <p:spPr>
          <a:xfrm>
            <a:off x="256032" y="5925312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EDE9FE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8" name="Text 86"/>
          <p:cNvSpPr/>
          <p:nvPr/>
        </p:nvSpPr>
        <p:spPr>
          <a:xfrm>
            <a:off x="256032" y="592531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000" dirty="0"/>
          </a:p>
        </p:txBody>
      </p:sp>
      <p:sp>
        <p:nvSpPr>
          <p:cNvPr id="89" name="Text 87"/>
          <p:cNvSpPr/>
          <p:nvPr/>
        </p:nvSpPr>
        <p:spPr>
          <a:xfrm>
            <a:off x="1051560" y="5870448"/>
            <a:ext cx="749808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Elev. Priv.</a:t>
            </a:r>
            <a:endParaRPr lang="en-US" sz="850" dirty="0"/>
          </a:p>
        </p:txBody>
      </p:sp>
      <p:sp>
        <p:nvSpPr>
          <p:cNvPr id="90" name="Text 88"/>
          <p:cNvSpPr/>
          <p:nvPr/>
        </p:nvSpPr>
        <p:spPr>
          <a:xfrm>
            <a:off x="1828800" y="5870448"/>
            <a:ext cx="219456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/ Cookie</a:t>
            </a:r>
            <a:endParaRPr lang="en-US" sz="900" dirty="0"/>
          </a:p>
        </p:txBody>
      </p:sp>
      <p:sp>
        <p:nvSpPr>
          <p:cNvPr id="91" name="Text 89"/>
          <p:cNvSpPr/>
          <p:nvPr/>
        </p:nvSpPr>
        <p:spPr>
          <a:xfrm>
            <a:off x="4069080" y="5870448"/>
            <a:ext cx="324612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modifies cookie to change role to "admin"</a:t>
            </a:r>
            <a:endParaRPr lang="en-US" sz="900" dirty="0"/>
          </a:p>
        </p:txBody>
      </p:sp>
      <p:sp>
        <p:nvSpPr>
          <p:cNvPr id="92" name="Text 90"/>
          <p:cNvSpPr/>
          <p:nvPr/>
        </p:nvSpPr>
        <p:spPr>
          <a:xfrm>
            <a:off x="7360920" y="5870448"/>
            <a:ext cx="42062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stored server-side; cookie is opaque ID only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3716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137160"/>
            <a:ext cx="12192000" cy="100584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1828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Design &amp; Safety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749808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related tables with constraints, foreign keys, and parameterized access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298448"/>
            <a:ext cx="5303520" cy="2057400"/>
          </a:xfrm>
          <a:prstGeom prst="rect">
            <a:avLst/>
          </a:prstGeom>
          <a:solidFill>
            <a:srgbClr val="DBEAFE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1362456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1755648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id (PK, AUTOINCREMENT)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48640" y="210312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username (UNIQUE, NOT NULL)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48640" y="2450592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password (NOT NULL – bcrypt hash)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48640" y="2798064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role (CHECK: admin|user)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217920" y="1298448"/>
            <a:ext cx="5303520" cy="2057400"/>
          </a:xfrm>
          <a:prstGeom prst="rect">
            <a:avLst/>
          </a:prstGeom>
          <a:solidFill>
            <a:srgbClr val="D1FAE5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309360" y="1362456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00800" y="1755648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id (PK, AUTOINCREMENT)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00800" y="210312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student_name (NOT NULL)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400800" y="2450592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course (NOT NULL)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400800" y="2798064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grade (NOT NULL)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65760" y="3566160"/>
            <a:ext cx="5303520" cy="2057400"/>
          </a:xfrm>
          <a:prstGeom prst="rect">
            <a:avLst/>
          </a:prstGeom>
          <a:solidFill>
            <a:srgbClr val="FEF9C3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57200" y="3630168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13F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48640" y="402336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id (PK, AUTOINCREMENT)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48640" y="4370832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filename (NOT NULL)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48640" y="4718304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path (NOT NULL)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48640" y="5065776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uploaded_by (FK → users.id)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217920" y="3566160"/>
            <a:ext cx="5303520" cy="2057400"/>
          </a:xfrm>
          <a:prstGeom prst="rect">
            <a:avLst/>
          </a:prstGeom>
          <a:solidFill>
            <a:srgbClr val="EDE9FE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309360" y="3630168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audit_log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400800" y="402336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id (PK, AUTOINCREMENT)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400800" y="4370832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timestamp (DEFAULT CURRENT_TIMESTAMP)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400800" y="4718304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action (NOT NULL)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400800" y="5065776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user (username)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2743200" y="3332039"/>
            <a:ext cx="6217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FK: files.uploaded_by → users.id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365760" y="5715000"/>
            <a:ext cx="11247120" cy="438912"/>
          </a:xfrm>
          <a:prstGeom prst="rect">
            <a:avLst/>
          </a:prstGeom>
          <a:solidFill>
            <a:srgbClr val="D1FAE5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57200" y="5733288"/>
            <a:ext cx="11064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production queries use parameterized API:  db.get(sql, [params])  db.all(sql, [params])  db.run(sql, [params])  — SQL injection is structurally impossible in secure routes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3716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137160"/>
            <a:ext cx="12192000" cy="100584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1828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Testing Results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749808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penetration testing – all mitigations verified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261872"/>
            <a:ext cx="2971800" cy="27432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20040" y="1261872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291840" y="1261872"/>
            <a:ext cx="1965960" cy="27432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337560" y="126187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Payload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303520" y="1261872"/>
            <a:ext cx="2148840" cy="27432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349240" y="1261872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 Result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7498080" y="1261872"/>
            <a:ext cx="2240280" cy="27432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543800" y="1261872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Result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9784080" y="1261872"/>
            <a:ext cx="1691640" cy="27432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9829800" y="126187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74320" y="1572768"/>
            <a:ext cx="11247120" cy="402336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20040" y="1572768"/>
            <a:ext cx="2926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Injection (search form)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337560" y="1572768"/>
            <a:ext cx="1920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 OR '1'='1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49240" y="1572768"/>
            <a:ext cx="2103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rows returned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543800" y="1572768"/>
            <a:ext cx="2194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rows returned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9829800" y="1636776"/>
            <a:ext cx="1005840" cy="274320"/>
          </a:xfrm>
          <a:prstGeom prst="roundRect">
            <a:avLst>
              <a:gd name="adj" fmla="val 13333"/>
            </a:avLst>
          </a:prstGeom>
          <a:solidFill>
            <a:srgbClr val="D1FAE5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9829800" y="1636776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PASS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74320" y="2011680"/>
            <a:ext cx="1124712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20040" y="2011680"/>
            <a:ext cx="2926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Access – Student Role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3337560" y="2011680"/>
            <a:ext cx="1920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Login student1, visit /admin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349240" y="2011680"/>
            <a:ext cx="2103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visible (/admin-vuln)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543800" y="2011680"/>
            <a:ext cx="2194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403 Forbidden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9829800" y="2075688"/>
            <a:ext cx="1005840" cy="274320"/>
          </a:xfrm>
          <a:prstGeom prst="roundRect">
            <a:avLst>
              <a:gd name="adj" fmla="val 13333"/>
            </a:avLst>
          </a:prstGeom>
          <a:solidFill>
            <a:srgbClr val="D1FAE5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9829800" y="2075688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PASS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274320" y="2450592"/>
            <a:ext cx="11247120" cy="402336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320040" y="2450592"/>
            <a:ext cx="2926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Brute Force Login (6 attempts)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3337560" y="2450592"/>
            <a:ext cx="1920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6x wrong password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349240" y="2450592"/>
            <a:ext cx="2103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6 processed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7543800" y="2450592"/>
            <a:ext cx="2194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6th → HTTP 429 blocked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9829800" y="2514600"/>
            <a:ext cx="1005840" cy="274320"/>
          </a:xfrm>
          <a:prstGeom prst="roundRect">
            <a:avLst>
              <a:gd name="adj" fmla="val 13333"/>
            </a:avLst>
          </a:prstGeom>
          <a:solidFill>
            <a:srgbClr val="D1FAE5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9829800" y="251460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PASS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274320" y="2889504"/>
            <a:ext cx="1124712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320040" y="2889504"/>
            <a:ext cx="2926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Malicious File Upload (.exe)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3337560" y="2889504"/>
            <a:ext cx="1920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Windows executable upload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349240" y="2889504"/>
            <a:ext cx="2103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accepted, stored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7543800" y="2889504"/>
            <a:ext cx="2194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"Invalid file type" error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9829800" y="2953512"/>
            <a:ext cx="1005840" cy="274320"/>
          </a:xfrm>
          <a:prstGeom prst="roundRect">
            <a:avLst>
              <a:gd name="adj" fmla="val 13333"/>
            </a:avLst>
          </a:prstGeom>
          <a:solidFill>
            <a:srgbClr val="D1FAE5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9829800" y="295351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PASS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274320" y="3328416"/>
            <a:ext cx="11247120" cy="402336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320040" y="3328416"/>
            <a:ext cx="2926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Oversized File Upload (5 MB)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3337560" y="3328416"/>
            <a:ext cx="1920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MB binary file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5349240" y="3328416"/>
            <a:ext cx="2103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accepted, stored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7543800" y="3328416"/>
            <a:ext cx="2194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"File too large" error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9829800" y="3392424"/>
            <a:ext cx="1005840" cy="274320"/>
          </a:xfrm>
          <a:prstGeom prst="roundRect">
            <a:avLst>
              <a:gd name="adj" fmla="val 13333"/>
            </a:avLst>
          </a:prstGeom>
          <a:solidFill>
            <a:srgbClr val="D1FAE5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9829800" y="3392424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PASS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274320" y="3767328"/>
            <a:ext cx="1124712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320040" y="3767328"/>
            <a:ext cx="2926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XSS via Search Input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3337560" y="3767328"/>
            <a:ext cx="1920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&lt;script&gt;alert(1)&lt;/script&gt;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5349240" y="3767328"/>
            <a:ext cx="2103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 executes (alert)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7543800" y="3767328"/>
            <a:ext cx="2194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encoded – text only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9829800" y="3831336"/>
            <a:ext cx="1005840" cy="274320"/>
          </a:xfrm>
          <a:prstGeom prst="roundRect">
            <a:avLst>
              <a:gd name="adj" fmla="val 13333"/>
            </a:avLst>
          </a:prstGeom>
          <a:solidFill>
            <a:srgbClr val="D1FAE5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9829800" y="3831336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PASS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274320" y="4206240"/>
            <a:ext cx="11247120" cy="402336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320040" y="4206240"/>
            <a:ext cx="2926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Unauthenticated Dashboard</a:t>
            </a:r>
            <a:endParaRPr lang="en-US" sz="950" dirty="0"/>
          </a:p>
        </p:txBody>
      </p:sp>
      <p:sp>
        <p:nvSpPr>
          <p:cNvPr id="60" name="Text 58"/>
          <p:cNvSpPr/>
          <p:nvPr/>
        </p:nvSpPr>
        <p:spPr>
          <a:xfrm>
            <a:off x="3337560" y="4206240"/>
            <a:ext cx="1920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Visit /dashboard – no login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5349240" y="4206240"/>
            <a:ext cx="2103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7543800" y="4206240"/>
            <a:ext cx="2194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Redirected to /login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9829800" y="4270248"/>
            <a:ext cx="1005840" cy="274320"/>
          </a:xfrm>
          <a:prstGeom prst="roundRect">
            <a:avLst>
              <a:gd name="adj" fmla="val 13333"/>
            </a:avLst>
          </a:prstGeom>
          <a:solidFill>
            <a:srgbClr val="D1FAE5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62"/>
          <p:cNvSpPr/>
          <p:nvPr/>
        </p:nvSpPr>
        <p:spPr>
          <a:xfrm>
            <a:off x="9829800" y="4270248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PASS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274320" y="4645152"/>
            <a:ext cx="1124712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Text 64"/>
          <p:cNvSpPr/>
          <p:nvPr/>
        </p:nvSpPr>
        <p:spPr>
          <a:xfrm>
            <a:off x="320040" y="4645152"/>
            <a:ext cx="2926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Trace Disclosure</a:t>
            </a:r>
            <a:endParaRPr lang="en-US" sz="950" dirty="0"/>
          </a:p>
        </p:txBody>
      </p:sp>
      <p:sp>
        <p:nvSpPr>
          <p:cNvPr id="67" name="Text 65"/>
          <p:cNvSpPr/>
          <p:nvPr/>
        </p:nvSpPr>
        <p:spPr>
          <a:xfrm>
            <a:off x="3337560" y="4645152"/>
            <a:ext cx="1920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Trigger internal server error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5349240" y="4645152"/>
            <a:ext cx="2103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stack trace shown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7543800" y="4645152"/>
            <a:ext cx="2194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message only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9829800" y="4709160"/>
            <a:ext cx="1005840" cy="274320"/>
          </a:xfrm>
          <a:prstGeom prst="roundRect">
            <a:avLst>
              <a:gd name="adj" fmla="val 13333"/>
            </a:avLst>
          </a:prstGeom>
          <a:solidFill>
            <a:srgbClr val="D1FAE5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Text 69"/>
          <p:cNvSpPr/>
          <p:nvPr/>
        </p:nvSpPr>
        <p:spPr>
          <a:xfrm>
            <a:off x="9829800" y="470916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PASS</a:t>
            </a:r>
            <a:endParaRPr lang="en-US" sz="950" dirty="0"/>
          </a:p>
        </p:txBody>
      </p:sp>
      <p:sp>
        <p:nvSpPr>
          <p:cNvPr id="72" name="Shape 70"/>
          <p:cNvSpPr/>
          <p:nvPr/>
        </p:nvSpPr>
        <p:spPr>
          <a:xfrm>
            <a:off x="274320" y="5084064"/>
            <a:ext cx="11247120" cy="402336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Text 71"/>
          <p:cNvSpPr/>
          <p:nvPr/>
        </p:nvSpPr>
        <p:spPr>
          <a:xfrm>
            <a:off x="320040" y="5084064"/>
            <a:ext cx="2926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Headers Present</a:t>
            </a:r>
            <a:endParaRPr lang="en-US" sz="950" dirty="0"/>
          </a:p>
        </p:txBody>
      </p:sp>
      <p:sp>
        <p:nvSpPr>
          <p:cNvPr id="74" name="Text 72"/>
          <p:cNvSpPr/>
          <p:nvPr/>
        </p:nvSpPr>
        <p:spPr>
          <a:xfrm>
            <a:off x="3337560" y="5084064"/>
            <a:ext cx="1920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Inspect response headers</a:t>
            </a:r>
            <a:endParaRPr lang="en-US" sz="900" dirty="0"/>
          </a:p>
        </p:txBody>
      </p:sp>
      <p:sp>
        <p:nvSpPr>
          <p:cNvPr id="75" name="Text 73"/>
          <p:cNvSpPr/>
          <p:nvPr/>
        </p:nvSpPr>
        <p:spPr>
          <a:xfrm>
            <a:off x="5349240" y="5084064"/>
            <a:ext cx="2103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CSP / X-Frame</a:t>
            </a:r>
            <a:endParaRPr lang="en-US" sz="900" dirty="0"/>
          </a:p>
        </p:txBody>
      </p:sp>
      <p:sp>
        <p:nvSpPr>
          <p:cNvPr id="76" name="Text 74"/>
          <p:cNvSpPr/>
          <p:nvPr/>
        </p:nvSpPr>
        <p:spPr>
          <a:xfrm>
            <a:off x="7543800" y="5084064"/>
            <a:ext cx="2194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Helmet headers present</a:t>
            </a:r>
            <a:endParaRPr lang="en-US" sz="900" dirty="0"/>
          </a:p>
        </p:txBody>
      </p:sp>
      <p:sp>
        <p:nvSpPr>
          <p:cNvPr id="77" name="Shape 75"/>
          <p:cNvSpPr/>
          <p:nvPr/>
        </p:nvSpPr>
        <p:spPr>
          <a:xfrm>
            <a:off x="9829800" y="5148072"/>
            <a:ext cx="1005840" cy="274320"/>
          </a:xfrm>
          <a:prstGeom prst="roundRect">
            <a:avLst>
              <a:gd name="adj" fmla="val 13333"/>
            </a:avLst>
          </a:prstGeom>
          <a:solidFill>
            <a:srgbClr val="D1FAE5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Text 76"/>
          <p:cNvSpPr/>
          <p:nvPr/>
        </p:nvSpPr>
        <p:spPr>
          <a:xfrm>
            <a:off x="9829800" y="514807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PASS</a:t>
            </a:r>
            <a:endParaRPr lang="en-US" sz="950" dirty="0"/>
          </a:p>
        </p:txBody>
      </p:sp>
      <p:sp>
        <p:nvSpPr>
          <p:cNvPr id="79" name="Shape 77"/>
          <p:cNvSpPr/>
          <p:nvPr/>
        </p:nvSpPr>
        <p:spPr>
          <a:xfrm>
            <a:off x="274320" y="5522976"/>
            <a:ext cx="1124712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0" name="Text 78"/>
          <p:cNvSpPr/>
          <p:nvPr/>
        </p:nvSpPr>
        <p:spPr>
          <a:xfrm>
            <a:off x="320040" y="5522976"/>
            <a:ext cx="2926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 Written</a:t>
            </a:r>
            <a:endParaRPr lang="en-US" sz="950" dirty="0"/>
          </a:p>
        </p:txBody>
      </p:sp>
      <p:sp>
        <p:nvSpPr>
          <p:cNvPr id="81" name="Text 79"/>
          <p:cNvSpPr/>
          <p:nvPr/>
        </p:nvSpPr>
        <p:spPr>
          <a:xfrm>
            <a:off x="3337560" y="5522976"/>
            <a:ext cx="1920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Login, then query audit_log</a:t>
            </a:r>
            <a:endParaRPr lang="en-US" sz="900" dirty="0"/>
          </a:p>
        </p:txBody>
      </p:sp>
      <p:sp>
        <p:nvSpPr>
          <p:cNvPr id="82" name="Text 80"/>
          <p:cNvSpPr/>
          <p:nvPr/>
        </p:nvSpPr>
        <p:spPr>
          <a:xfrm>
            <a:off x="5349240" y="5522976"/>
            <a:ext cx="2103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00" dirty="0"/>
          </a:p>
        </p:txBody>
      </p:sp>
      <p:sp>
        <p:nvSpPr>
          <p:cNvPr id="83" name="Text 81"/>
          <p:cNvSpPr/>
          <p:nvPr/>
        </p:nvSpPr>
        <p:spPr>
          <a:xfrm>
            <a:off x="7543800" y="5522976"/>
            <a:ext cx="2194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+ user + timestamp logged</a:t>
            </a:r>
            <a:endParaRPr lang="en-US" sz="900" dirty="0"/>
          </a:p>
        </p:txBody>
      </p:sp>
      <p:sp>
        <p:nvSpPr>
          <p:cNvPr id="84" name="Shape 82"/>
          <p:cNvSpPr/>
          <p:nvPr/>
        </p:nvSpPr>
        <p:spPr>
          <a:xfrm>
            <a:off x="9829800" y="5586984"/>
            <a:ext cx="1005840" cy="274320"/>
          </a:xfrm>
          <a:prstGeom prst="roundRect">
            <a:avLst>
              <a:gd name="adj" fmla="val 13333"/>
            </a:avLst>
          </a:prstGeom>
          <a:solidFill>
            <a:srgbClr val="D1FAE5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5" name="Text 83"/>
          <p:cNvSpPr/>
          <p:nvPr/>
        </p:nvSpPr>
        <p:spPr>
          <a:xfrm>
            <a:off x="9829800" y="5586984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PASS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3716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137160"/>
            <a:ext cx="12192000" cy="100584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1828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Key Takeaways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749808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by design — not an afterthought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298448"/>
            <a:ext cx="5486400" cy="1536192"/>
          </a:xfrm>
          <a:prstGeom prst="rect">
            <a:avLst/>
          </a:prstGeom>
          <a:solidFill>
            <a:srgbClr val="DBEAFE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" y="1389888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⚔ Attack Surface Awareness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1801368"/>
            <a:ext cx="521208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Identifying all entry points (login, search, upload, APIs, admin) before building enables proactive threat modelling rather than reactive patching.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17920" y="1298448"/>
            <a:ext cx="5486400" cy="1536192"/>
          </a:xfrm>
          <a:prstGeom prst="rect">
            <a:avLst/>
          </a:prstGeom>
          <a:solidFill>
            <a:srgbClr val="DBEAFE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355080" y="1389888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Defense in Depth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355080" y="1801368"/>
            <a:ext cx="521208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independent controls — bcrypt, rate limiting, RBAC, parameterized queries, file validation, Helmet headers — mean no single failure equals compromise.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2962656"/>
            <a:ext cx="5486400" cy="1536192"/>
          </a:xfrm>
          <a:prstGeom prst="rect">
            <a:avLst/>
          </a:prstGeom>
          <a:solidFill>
            <a:srgbClr val="D1FAE5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02920" y="3054096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OWASP &amp; STRIDE Integration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2920" y="3465576"/>
            <a:ext cx="521208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OWASP categories addressed. 12 STRIDE threats mapped. Security is a structured engineering discipline, not guesswork.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17920" y="2962656"/>
            <a:ext cx="5486400" cy="1536192"/>
          </a:xfrm>
          <a:prstGeom prst="rect">
            <a:avLst/>
          </a:prstGeom>
          <a:solidFill>
            <a:srgbClr val="D1FAE5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355080" y="3054096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Audit Logging is Non-Negotiable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355080" y="3465576"/>
            <a:ext cx="521208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audit trails, incident response is impossible. Our dual logging (Winston + DB) ensures every security event is timestamped and attributable.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4626864"/>
            <a:ext cx="5486400" cy="1536192"/>
          </a:xfrm>
          <a:prstGeom prst="rect">
            <a:avLst/>
          </a:prstGeom>
          <a:solidFill>
            <a:srgbClr val="FEF9C3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02920" y="4718304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🧪 Dual-mode Design Enables Learning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02920" y="5129784"/>
            <a:ext cx="521208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Showing attacks succeed in vulnerable mode — then fail in secure mode — makes the value of each control immediately measurable and demonstrable.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217920" y="4626864"/>
            <a:ext cx="5486400" cy="1536192"/>
          </a:xfrm>
          <a:prstGeom prst="rect">
            <a:avLst/>
          </a:prstGeom>
          <a:solidFill>
            <a:srgbClr val="FEF9C3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355080" y="4718304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🏗 Architecture Enforces Security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355080" y="5129784"/>
            <a:ext cx="521208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3-tier separation ensures no route can accidentally bypass the security middleware layer. Security is structural, not optional.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65760" y="6263640"/>
            <a:ext cx="11247120" cy="384048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57200" y="6281928"/>
            <a:ext cx="11064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is not a feature — it is the foundation upon which reliable software is built.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3291840"/>
            <a:ext cx="10515600" cy="36576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31520" y="3520440"/>
            <a:ext cx="10058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5 OWASP Top 10 categories demonstrated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0" y="3995928"/>
            <a:ext cx="10058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12 STRIDE threats mapped and mitigated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31520" y="4471416"/>
            <a:ext cx="10058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5 entry points — each with vulnerable and secure versions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31520" y="4946904"/>
            <a:ext cx="10058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10 / 10 security test cases passed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7200" y="62179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B7B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SECU2000 – Application Security  |  Secure Student Portal  |  April 15,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2341</Words>
  <Application>Microsoft Office PowerPoint</Application>
  <PresentationFormat>Widescreen</PresentationFormat>
  <Paragraphs>487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Ngoc Hai Nguyen</cp:lastModifiedBy>
  <cp:revision>2</cp:revision>
  <dcterms:created xsi:type="dcterms:W3CDTF">2026-04-15T20:40:21Z</dcterms:created>
  <dcterms:modified xsi:type="dcterms:W3CDTF">2026-04-15T20:51:59Z</dcterms:modified>
</cp:coreProperties>
</file>